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06" r:id="rId2"/>
  </p:sldIdLst>
  <p:sldSz cx="9144000" cy="5143500" type="screen16x9"/>
  <p:notesSz cx="7315200" cy="96012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C86E41"/>
    <a:srgbClr val="517894"/>
    <a:srgbClr val="E0E070"/>
    <a:srgbClr val="203747"/>
    <a:srgbClr val="A16968"/>
    <a:srgbClr val="517830"/>
    <a:srgbClr val="61612C"/>
    <a:srgbClr val="AEC928"/>
    <a:srgbClr val="8A38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4943B-FECB-4C8C-BDB9-05B2A53F8AF4}" v="199" dt="2026-09-17T05:48:29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33" autoAdjust="0"/>
    <p:restoredTop sz="91630" autoAdjust="0"/>
  </p:normalViewPr>
  <p:slideViewPr>
    <p:cSldViewPr>
      <p:cViewPr varScale="1">
        <p:scale>
          <a:sx n="139" d="100"/>
          <a:sy n="139" d="100"/>
        </p:scale>
        <p:origin x="1032" y="15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27CB151-5F8E-4493-9986-8C6099D1E22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9FF32A-28FA-496B-B06F-678BB729E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50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My research in these three areas is </a:t>
            </a:r>
            <a:r>
              <a:rPr lang="en-US" b="1" dirty="0"/>
              <a:t>theoretically driven</a:t>
            </a:r>
            <a:r>
              <a:rPr lang="en-US" dirty="0"/>
              <a:t>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That’s why I often find myself coming back to some of the classics in political science, for example </a:t>
            </a:r>
            <a:r>
              <a:rPr lang="en-US" b="1" dirty="0"/>
              <a:t>David Easton’s </a:t>
            </a:r>
            <a:r>
              <a:rPr lang="en-US" dirty="0"/>
              <a:t>systems analysis of political life.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political system </a:t>
            </a:r>
            <a:r>
              <a:rPr lang="en-US" dirty="0"/>
              <a:t>is a set of actors, institutions and agencies concerned with formulating and implementing the collective goals of a society or of groups within it.</a:t>
            </a:r>
          </a:p>
          <a:p>
            <a:pPr marL="664546" lvl="1" indent="-181240" defTabSz="966612">
              <a:buFont typeface="Arial" panose="020B0604020202020204" pitchFamily="34" charset="0"/>
              <a:buChar char="•"/>
            </a:pPr>
            <a:r>
              <a:rPr lang="en-AU" dirty="0"/>
              <a:t>It’s worth pointing out that the state is only one possible container for a political system. But political systems can also come in the form of </a:t>
            </a:r>
            <a:r>
              <a:rPr lang="en-US" dirty="0"/>
              <a:t>tribes, </a:t>
            </a:r>
            <a:r>
              <a:rPr lang="en-US" dirty="0" err="1"/>
              <a:t>organisations</a:t>
            </a:r>
            <a:r>
              <a:rPr lang="en-US" dirty="0"/>
              <a:t>, or groups of states.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At the most simplistic level, a political system is a thing that translates </a:t>
            </a:r>
            <a:r>
              <a:rPr lang="en-US" b="1" dirty="0"/>
              <a:t>inputs</a:t>
            </a:r>
            <a:r>
              <a:rPr lang="en-US" dirty="0"/>
              <a:t> (e.g. demands from society) into outputs (e.g. policies and regulation). It does so through certain </a:t>
            </a:r>
            <a:r>
              <a:rPr lang="en-US" b="1" dirty="0"/>
              <a:t>process functions</a:t>
            </a:r>
            <a:r>
              <a:rPr lang="en-US" dirty="0"/>
              <a:t>. And then there is also a </a:t>
            </a:r>
            <a:r>
              <a:rPr lang="en-US" b="1" dirty="0"/>
              <a:t>feedback loop </a:t>
            </a:r>
            <a:r>
              <a:rPr lang="en-US" dirty="0"/>
              <a:t>that allows the system to adapt and self-regulate.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According to Easton, political systems have an </a:t>
            </a:r>
            <a:r>
              <a:rPr lang="en-US" b="1" dirty="0"/>
              <a:t>international environment</a:t>
            </a:r>
            <a:r>
              <a:rPr lang="en-US" dirty="0"/>
              <a:t>, where other systems influence it from the outside, and a </a:t>
            </a:r>
            <a:r>
              <a:rPr lang="en-US" b="1" dirty="0"/>
              <a:t>domestic environment</a:t>
            </a:r>
            <a:r>
              <a:rPr lang="en-US" dirty="0"/>
              <a:t>, i.e. its citizens/members.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AU" dirty="0"/>
              <a:t>What I add is this. Political systems also have an </a:t>
            </a:r>
            <a:r>
              <a:rPr lang="en-AU" b="1" u="sng" dirty="0"/>
              <a:t>information environment</a:t>
            </a:r>
            <a:r>
              <a:rPr lang="en-AU" dirty="0"/>
              <a:t>. </a:t>
            </a:r>
            <a:r>
              <a:rPr lang="en-AU" i="1" dirty="0">
                <a:solidFill>
                  <a:srgbClr val="FF0000"/>
                </a:solidFill>
              </a:rPr>
              <a:t>This consists of  </a:t>
            </a:r>
            <a:r>
              <a:rPr lang="en-US" i="1" dirty="0">
                <a:solidFill>
                  <a:srgbClr val="FF0000"/>
                </a:solidFill>
              </a:rPr>
              <a:t>the physical, social, and digital surroundings that influence how the system ingests, processes and outputs information.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As I will talk about in a second, my three </a:t>
            </a:r>
            <a:r>
              <a:rPr lang="en-US" b="1" dirty="0"/>
              <a:t>research streams </a:t>
            </a:r>
            <a:r>
              <a:rPr lang="en-US" dirty="0"/>
              <a:t>engage with the interface between the political system and its information environment at the input, process and feedback loop stage.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But I want to draw your further attention to one critical influence on the information environment that is of special interest to me, which is the </a:t>
            </a:r>
            <a:r>
              <a:rPr lang="en-US" b="1" dirty="0"/>
              <a:t>political regime type</a:t>
            </a:r>
            <a:r>
              <a:rPr lang="en-US" dirty="0"/>
              <a:t>: democracy or autocracy.</a:t>
            </a:r>
          </a:p>
          <a:p>
            <a:pPr marL="181240" indent="-181240">
              <a:buFont typeface="Arial" panose="020B0604020202020204" pitchFamily="34" charset="0"/>
              <a:buChar char="•"/>
            </a:pPr>
            <a:r>
              <a:rPr lang="en-US" dirty="0"/>
              <a:t>Since information flows are tightly controlled under authoritarianism, lobbying and elections work very differently. And disinformation is part and parcel of autocratic information management.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9FF32A-28FA-496B-B06F-678BB729EE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50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64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430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496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30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641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289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8414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394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74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60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71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B19C1-B0D4-4A62-9373-E2B0611CBA6C}" type="datetimeFigureOut">
              <a:rPr lang="de-DE" smtClean="0"/>
              <a:t>17.09.26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F478B-D366-4E0F-BB53-5C1041A4F8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21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15DD72F-D9CC-F2B2-C543-F44F600D16E8}"/>
              </a:ext>
            </a:extLst>
          </p:cNvPr>
          <p:cNvCxnSpPr>
            <a:cxnSpLocks/>
          </p:cNvCxnSpPr>
          <p:nvPr/>
        </p:nvCxnSpPr>
        <p:spPr>
          <a:xfrm>
            <a:off x="5303501" y="2232605"/>
            <a:ext cx="1986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6E8006-9667-5D06-404B-2553448065A7}"/>
              </a:ext>
            </a:extLst>
          </p:cNvPr>
          <p:cNvSpPr txBox="1"/>
          <p:nvPr/>
        </p:nvSpPr>
        <p:spPr>
          <a:xfrm>
            <a:off x="3604643" y="1716213"/>
            <a:ext cx="1811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latin typeface="FoundrySterling-Book"/>
              </a:rPr>
              <a:t>THROUGHPUTS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D18F0B-F6B5-5A3C-5B02-BA50FE71BAB5}"/>
              </a:ext>
            </a:extLst>
          </p:cNvPr>
          <p:cNvCxnSpPr>
            <a:cxnSpLocks/>
          </p:cNvCxnSpPr>
          <p:nvPr/>
        </p:nvCxnSpPr>
        <p:spPr>
          <a:xfrm>
            <a:off x="1565026" y="2232605"/>
            <a:ext cx="20395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0B5DE07-9A46-8FB9-7AB1-A8A1B469A80F}"/>
              </a:ext>
            </a:extLst>
          </p:cNvPr>
          <p:cNvSpPr/>
          <p:nvPr/>
        </p:nvSpPr>
        <p:spPr>
          <a:xfrm>
            <a:off x="1057716" y="1561275"/>
            <a:ext cx="6820561" cy="1901400"/>
          </a:xfrm>
          <a:prstGeom prst="roundRect">
            <a:avLst/>
          </a:prstGeom>
          <a:noFill/>
          <a:ln w="25400" cmpd="dbl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993899"/>
                      <a:gd name="connsiteY0" fmla="*/ 222029 h 1332148"/>
                      <a:gd name="connsiteX1" fmla="*/ 222029 w 5993899"/>
                      <a:gd name="connsiteY1" fmla="*/ 0 h 1332148"/>
                      <a:gd name="connsiteX2" fmla="*/ 1026756 w 5993899"/>
                      <a:gd name="connsiteY2" fmla="*/ 0 h 1332148"/>
                      <a:gd name="connsiteX3" fmla="*/ 1664988 w 5993899"/>
                      <a:gd name="connsiteY3" fmla="*/ 0 h 1332148"/>
                      <a:gd name="connsiteX4" fmla="*/ 2247721 w 5993899"/>
                      <a:gd name="connsiteY4" fmla="*/ 0 h 1332148"/>
                      <a:gd name="connsiteX5" fmla="*/ 2996950 w 5993899"/>
                      <a:gd name="connsiteY5" fmla="*/ 0 h 1332148"/>
                      <a:gd name="connsiteX6" fmla="*/ 3635181 w 5993899"/>
                      <a:gd name="connsiteY6" fmla="*/ 0 h 1332148"/>
                      <a:gd name="connsiteX7" fmla="*/ 4439908 w 5993899"/>
                      <a:gd name="connsiteY7" fmla="*/ 0 h 1332148"/>
                      <a:gd name="connsiteX8" fmla="*/ 5022641 w 5993899"/>
                      <a:gd name="connsiteY8" fmla="*/ 0 h 1332148"/>
                      <a:gd name="connsiteX9" fmla="*/ 5771870 w 5993899"/>
                      <a:gd name="connsiteY9" fmla="*/ 0 h 1332148"/>
                      <a:gd name="connsiteX10" fmla="*/ 5993899 w 5993899"/>
                      <a:gd name="connsiteY10" fmla="*/ 222029 h 1332148"/>
                      <a:gd name="connsiteX11" fmla="*/ 5993899 w 5993899"/>
                      <a:gd name="connsiteY11" fmla="*/ 666074 h 1332148"/>
                      <a:gd name="connsiteX12" fmla="*/ 5993899 w 5993899"/>
                      <a:gd name="connsiteY12" fmla="*/ 1110119 h 1332148"/>
                      <a:gd name="connsiteX13" fmla="*/ 5771870 w 5993899"/>
                      <a:gd name="connsiteY13" fmla="*/ 1332148 h 1332148"/>
                      <a:gd name="connsiteX14" fmla="*/ 5078140 w 5993899"/>
                      <a:gd name="connsiteY14" fmla="*/ 1332148 h 1332148"/>
                      <a:gd name="connsiteX15" fmla="*/ 4384410 w 5993899"/>
                      <a:gd name="connsiteY15" fmla="*/ 1332148 h 1332148"/>
                      <a:gd name="connsiteX16" fmla="*/ 3579683 w 5993899"/>
                      <a:gd name="connsiteY16" fmla="*/ 1332148 h 1332148"/>
                      <a:gd name="connsiteX17" fmla="*/ 2885953 w 5993899"/>
                      <a:gd name="connsiteY17" fmla="*/ 1332148 h 1332148"/>
                      <a:gd name="connsiteX18" fmla="*/ 2358718 w 5993899"/>
                      <a:gd name="connsiteY18" fmla="*/ 1332148 h 1332148"/>
                      <a:gd name="connsiteX19" fmla="*/ 1775984 w 5993899"/>
                      <a:gd name="connsiteY19" fmla="*/ 1332148 h 1332148"/>
                      <a:gd name="connsiteX20" fmla="*/ 971258 w 5993899"/>
                      <a:gd name="connsiteY20" fmla="*/ 1332148 h 1332148"/>
                      <a:gd name="connsiteX21" fmla="*/ 222029 w 5993899"/>
                      <a:gd name="connsiteY21" fmla="*/ 1332148 h 1332148"/>
                      <a:gd name="connsiteX22" fmla="*/ 0 w 5993899"/>
                      <a:gd name="connsiteY22" fmla="*/ 1110119 h 1332148"/>
                      <a:gd name="connsiteX23" fmla="*/ 0 w 5993899"/>
                      <a:gd name="connsiteY23" fmla="*/ 657193 h 1332148"/>
                      <a:gd name="connsiteX24" fmla="*/ 0 w 5993899"/>
                      <a:gd name="connsiteY24" fmla="*/ 222029 h 1332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5993899" h="1332148" extrusionOk="0">
                        <a:moveTo>
                          <a:pt x="0" y="222029"/>
                        </a:moveTo>
                        <a:cubicBezTo>
                          <a:pt x="-3388" y="97316"/>
                          <a:pt x="82631" y="6296"/>
                          <a:pt x="222029" y="0"/>
                        </a:cubicBezTo>
                        <a:cubicBezTo>
                          <a:pt x="427163" y="21664"/>
                          <a:pt x="727735" y="-443"/>
                          <a:pt x="1026756" y="0"/>
                        </a:cubicBezTo>
                        <a:cubicBezTo>
                          <a:pt x="1325777" y="443"/>
                          <a:pt x="1532555" y="8635"/>
                          <a:pt x="1664988" y="0"/>
                        </a:cubicBezTo>
                        <a:cubicBezTo>
                          <a:pt x="1797421" y="-8635"/>
                          <a:pt x="1982093" y="6818"/>
                          <a:pt x="2247721" y="0"/>
                        </a:cubicBezTo>
                        <a:cubicBezTo>
                          <a:pt x="2513349" y="-6818"/>
                          <a:pt x="2804566" y="11441"/>
                          <a:pt x="2996950" y="0"/>
                        </a:cubicBezTo>
                        <a:cubicBezTo>
                          <a:pt x="3189334" y="-11441"/>
                          <a:pt x="3481840" y="-27931"/>
                          <a:pt x="3635181" y="0"/>
                        </a:cubicBezTo>
                        <a:cubicBezTo>
                          <a:pt x="3788522" y="27931"/>
                          <a:pt x="4088466" y="31989"/>
                          <a:pt x="4439908" y="0"/>
                        </a:cubicBezTo>
                        <a:cubicBezTo>
                          <a:pt x="4791350" y="-31989"/>
                          <a:pt x="4772654" y="10964"/>
                          <a:pt x="5022641" y="0"/>
                        </a:cubicBezTo>
                        <a:cubicBezTo>
                          <a:pt x="5272628" y="-10964"/>
                          <a:pt x="5608827" y="24027"/>
                          <a:pt x="5771870" y="0"/>
                        </a:cubicBezTo>
                        <a:cubicBezTo>
                          <a:pt x="5906243" y="2825"/>
                          <a:pt x="5971659" y="95809"/>
                          <a:pt x="5993899" y="222029"/>
                        </a:cubicBezTo>
                        <a:cubicBezTo>
                          <a:pt x="5972870" y="334988"/>
                          <a:pt x="5994784" y="494456"/>
                          <a:pt x="5993899" y="666074"/>
                        </a:cubicBezTo>
                        <a:cubicBezTo>
                          <a:pt x="5993014" y="837692"/>
                          <a:pt x="5978260" y="914019"/>
                          <a:pt x="5993899" y="1110119"/>
                        </a:cubicBezTo>
                        <a:cubicBezTo>
                          <a:pt x="6007316" y="1249177"/>
                          <a:pt x="5910283" y="1318323"/>
                          <a:pt x="5771870" y="1332148"/>
                        </a:cubicBezTo>
                        <a:cubicBezTo>
                          <a:pt x="5463203" y="1356289"/>
                          <a:pt x="5363200" y="1339863"/>
                          <a:pt x="5078140" y="1332148"/>
                        </a:cubicBezTo>
                        <a:cubicBezTo>
                          <a:pt x="4793080" y="1324434"/>
                          <a:pt x="4683355" y="1328490"/>
                          <a:pt x="4384410" y="1332148"/>
                        </a:cubicBezTo>
                        <a:cubicBezTo>
                          <a:pt x="4085465" y="1335807"/>
                          <a:pt x="3857436" y="1335784"/>
                          <a:pt x="3579683" y="1332148"/>
                        </a:cubicBezTo>
                        <a:cubicBezTo>
                          <a:pt x="3301930" y="1328512"/>
                          <a:pt x="3164466" y="1304793"/>
                          <a:pt x="2885953" y="1332148"/>
                        </a:cubicBezTo>
                        <a:cubicBezTo>
                          <a:pt x="2607440" y="1359504"/>
                          <a:pt x="2594939" y="1308304"/>
                          <a:pt x="2358718" y="1332148"/>
                        </a:cubicBezTo>
                        <a:cubicBezTo>
                          <a:pt x="2122498" y="1355992"/>
                          <a:pt x="1990476" y="1347906"/>
                          <a:pt x="1775984" y="1332148"/>
                        </a:cubicBezTo>
                        <a:cubicBezTo>
                          <a:pt x="1561492" y="1316390"/>
                          <a:pt x="1200579" y="1322463"/>
                          <a:pt x="971258" y="1332148"/>
                        </a:cubicBezTo>
                        <a:cubicBezTo>
                          <a:pt x="741937" y="1341833"/>
                          <a:pt x="576417" y="1339748"/>
                          <a:pt x="222029" y="1332148"/>
                        </a:cubicBezTo>
                        <a:cubicBezTo>
                          <a:pt x="111131" y="1355363"/>
                          <a:pt x="-18201" y="1242340"/>
                          <a:pt x="0" y="1110119"/>
                        </a:cubicBezTo>
                        <a:cubicBezTo>
                          <a:pt x="-17758" y="965085"/>
                          <a:pt x="-20758" y="763125"/>
                          <a:pt x="0" y="657193"/>
                        </a:cubicBezTo>
                        <a:cubicBezTo>
                          <a:pt x="20758" y="551261"/>
                          <a:pt x="17280" y="319086"/>
                          <a:pt x="0" y="22202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schemeClr val="bg1">
                  <a:lumMod val="50000"/>
                </a:schemeClr>
              </a:solidFill>
              <a:latin typeface="FoundrySterling-Book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4EBC38-4B08-64EB-F570-9B8EE8590789}"/>
              </a:ext>
            </a:extLst>
          </p:cNvPr>
          <p:cNvSpPr txBox="1"/>
          <p:nvPr/>
        </p:nvSpPr>
        <p:spPr>
          <a:xfrm>
            <a:off x="1263090" y="1334452"/>
            <a:ext cx="13744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FoundrySterling-Book"/>
              </a:rPr>
              <a:t>Political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A0D8DD-E439-9B26-32FF-ED46B16CCAA0}"/>
              </a:ext>
            </a:extLst>
          </p:cNvPr>
          <p:cNvSpPr txBox="1"/>
          <p:nvPr/>
        </p:nvSpPr>
        <p:spPr>
          <a:xfrm>
            <a:off x="650993" y="1716213"/>
            <a:ext cx="122419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>
                <a:latin typeface="FoundrySterling-Book"/>
              </a:rPr>
              <a:t>INPUTS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1E73A0-BD0E-773F-E00E-B5EC8B7E957C}"/>
              </a:ext>
            </a:extLst>
          </p:cNvPr>
          <p:cNvSpPr txBox="1"/>
          <p:nvPr/>
        </p:nvSpPr>
        <p:spPr>
          <a:xfrm>
            <a:off x="600701" y="2003228"/>
            <a:ext cx="1071613" cy="4154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050" dirty="0">
                <a:latin typeface="FoundrySterling-Book"/>
              </a:rPr>
              <a:t>Demands /</a:t>
            </a:r>
          </a:p>
          <a:p>
            <a:pPr algn="ctr"/>
            <a:r>
              <a:rPr lang="en-AU" sz="1050" dirty="0">
                <a:latin typeface="FoundrySterling-Book"/>
              </a:rPr>
              <a:t>Support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16969-9508-DA04-32D7-72E35504FEBA}"/>
              </a:ext>
            </a:extLst>
          </p:cNvPr>
          <p:cNvSpPr txBox="1"/>
          <p:nvPr/>
        </p:nvSpPr>
        <p:spPr>
          <a:xfrm>
            <a:off x="7289757" y="1716213"/>
            <a:ext cx="14947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>
                <a:latin typeface="FoundrySterling-Book"/>
              </a:rPr>
              <a:t>OUTPUTS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CF811DC-067D-36C1-C5B8-D7834212D7CA}"/>
              </a:ext>
            </a:extLst>
          </p:cNvPr>
          <p:cNvSpPr/>
          <p:nvPr/>
        </p:nvSpPr>
        <p:spPr>
          <a:xfrm flipV="1">
            <a:off x="910054" y="1284587"/>
            <a:ext cx="7200800" cy="487201"/>
          </a:xfrm>
          <a:custGeom>
            <a:avLst/>
            <a:gdLst>
              <a:gd name="connsiteX0" fmla="*/ 5627077 w 5627077"/>
              <a:gd name="connsiteY0" fmla="*/ 117231 h 633366"/>
              <a:gd name="connsiteX1" fmla="*/ 5314461 w 5627077"/>
              <a:gd name="connsiteY1" fmla="*/ 515816 h 633366"/>
              <a:gd name="connsiteX2" fmla="*/ 4736123 w 5627077"/>
              <a:gd name="connsiteY2" fmla="*/ 617416 h 633366"/>
              <a:gd name="connsiteX3" fmla="*/ 2985477 w 5627077"/>
              <a:gd name="connsiteY3" fmla="*/ 633047 h 633366"/>
              <a:gd name="connsiteX4" fmla="*/ 1336430 w 5627077"/>
              <a:gd name="connsiteY4" fmla="*/ 617416 h 633366"/>
              <a:gd name="connsiteX5" fmla="*/ 304800 w 5627077"/>
              <a:gd name="connsiteY5" fmla="*/ 554893 h 633366"/>
              <a:gd name="connsiteX6" fmla="*/ 0 w 5627077"/>
              <a:gd name="connsiteY6" fmla="*/ 0 h 63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7077" h="633366">
                <a:moveTo>
                  <a:pt x="5627077" y="117231"/>
                </a:moveTo>
                <a:cubicBezTo>
                  <a:pt x="5545015" y="274841"/>
                  <a:pt x="5462953" y="432452"/>
                  <a:pt x="5314461" y="515816"/>
                </a:cubicBezTo>
                <a:cubicBezTo>
                  <a:pt x="5165969" y="599180"/>
                  <a:pt x="5124287" y="597878"/>
                  <a:pt x="4736123" y="617416"/>
                </a:cubicBezTo>
                <a:cubicBezTo>
                  <a:pt x="4347959" y="636955"/>
                  <a:pt x="2985477" y="633047"/>
                  <a:pt x="2985477" y="633047"/>
                </a:cubicBezTo>
                <a:lnTo>
                  <a:pt x="1336430" y="617416"/>
                </a:lnTo>
                <a:cubicBezTo>
                  <a:pt x="889651" y="604390"/>
                  <a:pt x="527538" y="657796"/>
                  <a:pt x="304800" y="554893"/>
                </a:cubicBezTo>
                <a:cubicBezTo>
                  <a:pt x="82062" y="451990"/>
                  <a:pt x="41031" y="225995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AD7B2-7ECC-63F0-FCE5-1ABBBE6B3069}"/>
              </a:ext>
            </a:extLst>
          </p:cNvPr>
          <p:cNvSpPr txBox="1"/>
          <p:nvPr/>
        </p:nvSpPr>
        <p:spPr>
          <a:xfrm>
            <a:off x="7356011" y="2003228"/>
            <a:ext cx="1142610" cy="5770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050" dirty="0">
                <a:latin typeface="FoundrySterling-Book"/>
              </a:rPr>
              <a:t>Regulation /</a:t>
            </a:r>
          </a:p>
          <a:p>
            <a:pPr algn="ctr"/>
            <a:r>
              <a:rPr lang="en-AU" sz="1050" dirty="0">
                <a:latin typeface="FoundrySterling-Book"/>
              </a:rPr>
              <a:t>Extraction / </a:t>
            </a:r>
          </a:p>
          <a:p>
            <a:pPr algn="ctr"/>
            <a:r>
              <a:rPr lang="en-AU" sz="1050" dirty="0">
                <a:latin typeface="FoundrySterling-Book"/>
              </a:rPr>
              <a:t>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1E032-31E3-2B12-DD28-7D9D7078351E}"/>
              </a:ext>
            </a:extLst>
          </p:cNvPr>
          <p:cNvSpPr txBox="1"/>
          <p:nvPr/>
        </p:nvSpPr>
        <p:spPr>
          <a:xfrm>
            <a:off x="2843808" y="3810114"/>
            <a:ext cx="36270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50" dirty="0">
                <a:solidFill>
                  <a:schemeClr val="bg1">
                    <a:lumMod val="50000"/>
                  </a:schemeClr>
                </a:solidFill>
                <a:latin typeface="FoundrySterling-Book"/>
              </a:rPr>
              <a:t>External conditions/shocks (social	, economic, environmental)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58A02C-D07F-2C07-25CB-EC9661AA354D}"/>
              </a:ext>
            </a:extLst>
          </p:cNvPr>
          <p:cNvSpPr txBox="1"/>
          <p:nvPr/>
        </p:nvSpPr>
        <p:spPr>
          <a:xfrm>
            <a:off x="3764913" y="1013657"/>
            <a:ext cx="1071613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050" dirty="0">
                <a:latin typeface="FoundrySterling-Book"/>
              </a:rPr>
              <a:t>Feedback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AB09C-5191-6810-1C9D-A9833BCB32A4}"/>
              </a:ext>
            </a:extLst>
          </p:cNvPr>
          <p:cNvSpPr txBox="1"/>
          <p:nvPr/>
        </p:nvSpPr>
        <p:spPr>
          <a:xfrm>
            <a:off x="512026" y="4227934"/>
            <a:ext cx="1502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dirty="0">
                <a:latin typeface="FoundrySterling-Book"/>
              </a:rPr>
              <a:t>Input resilience (+/-)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responsiveness to outputs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cohesion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belonging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extremity/polarization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1D54F5-49C5-92BF-DE57-8EE8DB100E38}"/>
              </a:ext>
            </a:extLst>
          </p:cNvPr>
          <p:cNvSpPr txBox="1"/>
          <p:nvPr/>
        </p:nvSpPr>
        <p:spPr>
          <a:xfrm>
            <a:off x="7403605" y="4227934"/>
            <a:ext cx="1740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dirty="0">
                <a:latin typeface="FoundrySterling-Book"/>
              </a:rPr>
              <a:t>Output resilience (+/-)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responsiveness to inputs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timeliness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efficiency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effectiveness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equity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communication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AB03E39-DE96-F02F-9490-8383E3CBD1DE}"/>
              </a:ext>
            </a:extLst>
          </p:cNvPr>
          <p:cNvSpPr/>
          <p:nvPr/>
        </p:nvSpPr>
        <p:spPr>
          <a:xfrm rot="10800000">
            <a:off x="5792573" y="3570552"/>
            <a:ext cx="504056" cy="223228"/>
          </a:xfrm>
          <a:prstGeom prst="downArrow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504056"/>
                      <a:gd name="csY0" fmla="*/ 165620 h 331240"/>
                      <a:gd name="csX1" fmla="*/ 126014 w 504056"/>
                      <a:gd name="csY1" fmla="*/ 165620 h 331240"/>
                      <a:gd name="csX2" fmla="*/ 126014 w 504056"/>
                      <a:gd name="csY2" fmla="*/ 0 h 331240"/>
                      <a:gd name="csX3" fmla="*/ 378042 w 504056"/>
                      <a:gd name="csY3" fmla="*/ 0 h 331240"/>
                      <a:gd name="csX4" fmla="*/ 378042 w 504056"/>
                      <a:gd name="csY4" fmla="*/ 165620 h 331240"/>
                      <a:gd name="csX5" fmla="*/ 504056 w 504056"/>
                      <a:gd name="csY5" fmla="*/ 165620 h 331240"/>
                      <a:gd name="csX6" fmla="*/ 252028 w 504056"/>
                      <a:gd name="csY6" fmla="*/ 331240 h 331240"/>
                      <a:gd name="csX7" fmla="*/ 0 w 504056"/>
                      <a:gd name="csY7" fmla="*/ 165620 h 3312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504056" h="331240" extrusionOk="0">
                        <a:moveTo>
                          <a:pt x="0" y="165620"/>
                        </a:moveTo>
                        <a:cubicBezTo>
                          <a:pt x="51027" y="164746"/>
                          <a:pt x="81823" y="179642"/>
                          <a:pt x="126014" y="165620"/>
                        </a:cubicBezTo>
                        <a:cubicBezTo>
                          <a:pt x="116546" y="105493"/>
                          <a:pt x="135000" y="66574"/>
                          <a:pt x="126014" y="0"/>
                        </a:cubicBezTo>
                        <a:cubicBezTo>
                          <a:pt x="251210" y="-29785"/>
                          <a:pt x="280916" y="18151"/>
                          <a:pt x="378042" y="0"/>
                        </a:cubicBezTo>
                        <a:cubicBezTo>
                          <a:pt x="387218" y="44911"/>
                          <a:pt x="361720" y="129027"/>
                          <a:pt x="378042" y="165620"/>
                        </a:cubicBezTo>
                        <a:cubicBezTo>
                          <a:pt x="428413" y="156611"/>
                          <a:pt x="467842" y="178855"/>
                          <a:pt x="504056" y="165620"/>
                        </a:cubicBezTo>
                        <a:cubicBezTo>
                          <a:pt x="433708" y="213575"/>
                          <a:pt x="356522" y="227650"/>
                          <a:pt x="252028" y="331240"/>
                        </a:cubicBezTo>
                        <a:cubicBezTo>
                          <a:pt x="146574" y="272713"/>
                          <a:pt x="55521" y="195730"/>
                          <a:pt x="0" y="16562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F3D5A8-3531-E3A7-FD2B-B09F6B5FEDCA}"/>
              </a:ext>
            </a:extLst>
          </p:cNvPr>
          <p:cNvSpPr txBox="1"/>
          <p:nvPr/>
        </p:nvSpPr>
        <p:spPr>
          <a:xfrm>
            <a:off x="3688806" y="4227934"/>
            <a:ext cx="150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dirty="0">
                <a:latin typeface="FoundrySterling-Book"/>
              </a:rPr>
              <a:t>Throughput resilience (+/-)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listening 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experimentation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timeliness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friction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latin typeface="FoundrySterling-Book"/>
              </a:rPr>
              <a:t>equity</a:t>
            </a: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2A594C7A-E924-CF4C-2608-4ED288ABE22E}"/>
              </a:ext>
            </a:extLst>
          </p:cNvPr>
          <p:cNvSpPr/>
          <p:nvPr/>
        </p:nvSpPr>
        <p:spPr>
          <a:xfrm>
            <a:off x="3815916" y="2273400"/>
            <a:ext cx="1142610" cy="959171"/>
          </a:xfrm>
          <a:prstGeom prst="hexagon">
            <a:avLst/>
          </a:prstGeom>
          <a:noFill/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374482"/>
                      <a:gd name="csY0" fmla="*/ 498464 h 996927"/>
                      <a:gd name="csX1" fmla="*/ 249232 w 1374482"/>
                      <a:gd name="csY1" fmla="*/ 0 h 996927"/>
                      <a:gd name="csX2" fmla="*/ 660960 w 1374482"/>
                      <a:gd name="csY2" fmla="*/ 0 h 996927"/>
                      <a:gd name="csX3" fmla="*/ 1125250 w 1374482"/>
                      <a:gd name="csY3" fmla="*/ 0 h 996927"/>
                      <a:gd name="csX4" fmla="*/ 1374482 w 1374482"/>
                      <a:gd name="csY4" fmla="*/ 498464 h 996927"/>
                      <a:gd name="csX5" fmla="*/ 1125250 w 1374482"/>
                      <a:gd name="csY5" fmla="*/ 996927 h 996927"/>
                      <a:gd name="csX6" fmla="*/ 669721 w 1374482"/>
                      <a:gd name="csY6" fmla="*/ 996927 h 996927"/>
                      <a:gd name="csX7" fmla="*/ 249232 w 1374482"/>
                      <a:gd name="csY7" fmla="*/ 996927 h 996927"/>
                      <a:gd name="csX8" fmla="*/ 0 w 1374482"/>
                      <a:gd name="csY8" fmla="*/ 498464 h 99692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1374482" h="996927" extrusionOk="0">
                        <a:moveTo>
                          <a:pt x="0" y="498464"/>
                        </a:moveTo>
                        <a:cubicBezTo>
                          <a:pt x="28007" y="384613"/>
                          <a:pt x="225976" y="182283"/>
                          <a:pt x="249232" y="0"/>
                        </a:cubicBezTo>
                        <a:cubicBezTo>
                          <a:pt x="436908" y="-26459"/>
                          <a:pt x="459407" y="25980"/>
                          <a:pt x="660960" y="0"/>
                        </a:cubicBezTo>
                        <a:cubicBezTo>
                          <a:pt x="862513" y="-25980"/>
                          <a:pt x="946181" y="24035"/>
                          <a:pt x="1125250" y="0"/>
                        </a:cubicBezTo>
                        <a:cubicBezTo>
                          <a:pt x="1253816" y="214495"/>
                          <a:pt x="1233459" y="340065"/>
                          <a:pt x="1374482" y="498464"/>
                        </a:cubicBezTo>
                        <a:cubicBezTo>
                          <a:pt x="1324710" y="650837"/>
                          <a:pt x="1205466" y="832076"/>
                          <a:pt x="1125250" y="996927"/>
                        </a:cubicBezTo>
                        <a:cubicBezTo>
                          <a:pt x="980753" y="999189"/>
                          <a:pt x="884430" y="982692"/>
                          <a:pt x="669721" y="996927"/>
                        </a:cubicBezTo>
                        <a:cubicBezTo>
                          <a:pt x="455012" y="1011162"/>
                          <a:pt x="337278" y="964473"/>
                          <a:pt x="249232" y="996927"/>
                        </a:cubicBezTo>
                        <a:cubicBezTo>
                          <a:pt x="130107" y="906976"/>
                          <a:pt x="168638" y="697463"/>
                          <a:pt x="0" y="49846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BA5E68-0A41-F7C0-8DA7-863A446899D3}"/>
              </a:ext>
            </a:extLst>
          </p:cNvPr>
          <p:cNvSpPr txBox="1"/>
          <p:nvPr/>
        </p:nvSpPr>
        <p:spPr>
          <a:xfrm>
            <a:off x="3729600" y="3206103"/>
            <a:ext cx="13152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>
                <a:latin typeface="FoundrySterling-Book"/>
              </a:rPr>
              <a:t>Policymaking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C4766C-B6EB-83CD-43E4-4429B5D48806}"/>
              </a:ext>
            </a:extLst>
          </p:cNvPr>
          <p:cNvSpPr txBox="1"/>
          <p:nvPr/>
        </p:nvSpPr>
        <p:spPr>
          <a:xfrm>
            <a:off x="3764913" y="2011649"/>
            <a:ext cx="13152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>
                <a:latin typeface="FoundrySterling-Book"/>
              </a:rPr>
              <a:t>Power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48B487-2348-8A5F-FE3D-99EF7D93DCA8}"/>
              </a:ext>
            </a:extLst>
          </p:cNvPr>
          <p:cNvSpPr txBox="1"/>
          <p:nvPr/>
        </p:nvSpPr>
        <p:spPr>
          <a:xfrm rot="3837232">
            <a:off x="4329884" y="2323837"/>
            <a:ext cx="13152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>
                <a:latin typeface="FoundrySterling-Book"/>
              </a:rPr>
              <a:t>Aggregation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1A3F97-AC45-7810-17E7-F5BF918C8D59}"/>
              </a:ext>
            </a:extLst>
          </p:cNvPr>
          <p:cNvSpPr txBox="1"/>
          <p:nvPr/>
        </p:nvSpPr>
        <p:spPr>
          <a:xfrm rot="17784009">
            <a:off x="3155196" y="2337999"/>
            <a:ext cx="13152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050" dirty="0">
                <a:latin typeface="FoundrySterling-Book"/>
              </a:rPr>
              <a:t>Participation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BBF196-56AA-3D0C-B236-1EA5B5A1A136}"/>
              </a:ext>
            </a:extLst>
          </p:cNvPr>
          <p:cNvSpPr txBox="1"/>
          <p:nvPr/>
        </p:nvSpPr>
        <p:spPr>
          <a:xfrm>
            <a:off x="145354" y="138340"/>
            <a:ext cx="8891142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sz="800" dirty="0">
              <a:latin typeface="FoundrySterling-Book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C528D0-C907-19EF-08E2-A7A940C607DF}"/>
              </a:ext>
            </a:extLst>
          </p:cNvPr>
          <p:cNvSpPr txBox="1"/>
          <p:nvPr/>
        </p:nvSpPr>
        <p:spPr>
          <a:xfrm>
            <a:off x="70127" y="41363"/>
            <a:ext cx="90822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FoundrySterling-Book"/>
              </a:rPr>
              <a:t>Democratic resilience is the ability of a political system to </a:t>
            </a:r>
          </a:p>
          <a:p>
            <a:pPr marL="685800" lvl="1" indent="-228600">
              <a:buAutoNum type="alphaLcParenBoth"/>
            </a:pPr>
            <a:r>
              <a:rPr lang="en-US" sz="800" dirty="0">
                <a:latin typeface="FoundrySterling-Book"/>
              </a:rPr>
              <a:t>maintain a responsive feedback loop between inputs and outputs, </a:t>
            </a:r>
          </a:p>
          <a:p>
            <a:pPr marL="685800" lvl="1" indent="-228600">
              <a:buAutoNum type="alphaLcParenBoth"/>
            </a:pPr>
            <a:r>
              <a:rPr lang="en-US" sz="800" dirty="0">
                <a:latin typeface="FoundrySterling-Book"/>
              </a:rPr>
              <a:t>absorb external and internal stressors, and to </a:t>
            </a:r>
          </a:p>
          <a:p>
            <a:pPr marL="685800" lvl="1" indent="-228600">
              <a:buAutoNum type="alphaLcParenBoth"/>
            </a:pPr>
            <a:r>
              <a:rPr lang="en-US" sz="800" dirty="0">
                <a:latin typeface="FoundrySterling-Book"/>
              </a:rPr>
              <a:t>adapt dynamically to the changing functional conditions of democratic governance, </a:t>
            </a:r>
          </a:p>
          <a:p>
            <a:r>
              <a:rPr lang="en-US" sz="800" dirty="0">
                <a:latin typeface="FoundrySterling-Book"/>
              </a:rPr>
              <a:t>without losing the democratic character of its regime.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C2694C7B-9E06-F0C0-32A4-E61B827B2104}"/>
              </a:ext>
            </a:extLst>
          </p:cNvPr>
          <p:cNvSpPr/>
          <p:nvPr/>
        </p:nvSpPr>
        <p:spPr>
          <a:xfrm rot="10800000">
            <a:off x="2851927" y="3570600"/>
            <a:ext cx="504056" cy="223228"/>
          </a:xfrm>
          <a:prstGeom prst="downArrow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504056"/>
                      <a:gd name="csY0" fmla="*/ 165620 h 331240"/>
                      <a:gd name="csX1" fmla="*/ 126014 w 504056"/>
                      <a:gd name="csY1" fmla="*/ 165620 h 331240"/>
                      <a:gd name="csX2" fmla="*/ 126014 w 504056"/>
                      <a:gd name="csY2" fmla="*/ 0 h 331240"/>
                      <a:gd name="csX3" fmla="*/ 378042 w 504056"/>
                      <a:gd name="csY3" fmla="*/ 0 h 331240"/>
                      <a:gd name="csX4" fmla="*/ 378042 w 504056"/>
                      <a:gd name="csY4" fmla="*/ 165620 h 331240"/>
                      <a:gd name="csX5" fmla="*/ 504056 w 504056"/>
                      <a:gd name="csY5" fmla="*/ 165620 h 331240"/>
                      <a:gd name="csX6" fmla="*/ 252028 w 504056"/>
                      <a:gd name="csY6" fmla="*/ 331240 h 331240"/>
                      <a:gd name="csX7" fmla="*/ 0 w 504056"/>
                      <a:gd name="csY7" fmla="*/ 165620 h 33124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</a:cxnLst>
                    <a:rect l="l" t="t" r="r" b="b"/>
                    <a:pathLst>
                      <a:path w="504056" h="331240" extrusionOk="0">
                        <a:moveTo>
                          <a:pt x="0" y="165620"/>
                        </a:moveTo>
                        <a:cubicBezTo>
                          <a:pt x="51027" y="164746"/>
                          <a:pt x="81823" y="179642"/>
                          <a:pt x="126014" y="165620"/>
                        </a:cubicBezTo>
                        <a:cubicBezTo>
                          <a:pt x="116546" y="105493"/>
                          <a:pt x="135000" y="66574"/>
                          <a:pt x="126014" y="0"/>
                        </a:cubicBezTo>
                        <a:cubicBezTo>
                          <a:pt x="251210" y="-29785"/>
                          <a:pt x="280916" y="18151"/>
                          <a:pt x="378042" y="0"/>
                        </a:cubicBezTo>
                        <a:cubicBezTo>
                          <a:pt x="387218" y="44911"/>
                          <a:pt x="361720" y="129027"/>
                          <a:pt x="378042" y="165620"/>
                        </a:cubicBezTo>
                        <a:cubicBezTo>
                          <a:pt x="428413" y="156611"/>
                          <a:pt x="467842" y="178855"/>
                          <a:pt x="504056" y="165620"/>
                        </a:cubicBezTo>
                        <a:cubicBezTo>
                          <a:pt x="433708" y="213575"/>
                          <a:pt x="356522" y="227650"/>
                          <a:pt x="252028" y="331240"/>
                        </a:cubicBezTo>
                        <a:cubicBezTo>
                          <a:pt x="146574" y="272713"/>
                          <a:pt x="55521" y="195730"/>
                          <a:pt x="0" y="16562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30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daa4be3-f650-4692-881a-64ae220cbceb}" enabled="1" method="Standard" siteId="{5a7cc8ab-a4dc-4f9b-bf60-66714049ad6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6523</TotalTime>
  <Words>439</Words>
  <Application>Microsoft Macintosh PowerPoint</Application>
  <PresentationFormat>On-screen Show (16:9)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FoundrySterling-Book</vt:lpstr>
      <vt:lpstr>Office Theme</vt:lpstr>
      <vt:lpstr>PowerPoint Presentation</vt:lpstr>
    </vt:vector>
  </TitlesOfParts>
  <Company>University of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 Grömping</dc:creator>
  <cp:lastModifiedBy>Seraphine Maerz</cp:lastModifiedBy>
  <cp:revision>421</cp:revision>
  <dcterms:created xsi:type="dcterms:W3CDTF">2017-01-06T11:01:23Z</dcterms:created>
  <dcterms:modified xsi:type="dcterms:W3CDTF">2026-09-17T06:08:03Z</dcterms:modified>
</cp:coreProperties>
</file>